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704850" y="1830323"/>
            <a:ext cx="9133151" cy="2598802"/>
            <a:chOff x="704850" y="1830323"/>
            <a:chExt cx="9133151" cy="2598802"/>
          </a:xfrm>
        </p:grpSpPr>
        <p:grpSp>
          <p:nvGrpSpPr>
            <p:cNvPr id="7" name="Group 7"/>
            <p:cNvGrpSpPr/>
            <p:nvPr/>
          </p:nvGrpSpPr>
          <p:grpSpPr>
            <a:xfrm>
              <a:off x="837434" y="1830323"/>
              <a:ext cx="466301" cy="417577"/>
              <a:chOff x="837434" y="1830323"/>
              <a:chExt cx="466301" cy="41757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837434" y="1830323"/>
                <a:ext cx="466301" cy="417577"/>
              </a:xfrm>
              <a:custGeom>
                <a:avLst/>
                <a:gdLst/>
                <a:ahLst/>
                <a:cxnLst/>
                <a:rect l="l" t="t" r="r" b="b"/>
                <a:pathLst>
                  <a:path w="466301" h="417577">
                    <a:moveTo>
                      <a:pt x="419866" y="228905"/>
                    </a:moveTo>
                    <a:lnTo>
                      <a:pt x="229366" y="417577"/>
                    </a:lnTo>
                    <a:lnTo>
                      <a:pt x="155807" y="344729"/>
                    </a:lnTo>
                    <a:moveTo>
                      <a:pt x="435" y="138888"/>
                    </a:moveTo>
                    <a:cubicBezTo>
                      <a:pt x="0" y="83937"/>
                      <a:pt x="34956" y="34939"/>
                      <a:pt x="87058" y="17469"/>
                    </a:cubicBezTo>
                    <a:cubicBezTo>
                      <a:pt x="139160" y="0"/>
                      <a:pt x="196588" y="18022"/>
                      <a:pt x="229366" y="62129"/>
                    </a:cubicBezTo>
                    <a:cubicBezTo>
                      <a:pt x="257998" y="24049"/>
                      <a:pt x="305536" y="5198"/>
                      <a:pt x="352485" y="13305"/>
                    </a:cubicBezTo>
                    <a:cubicBezTo>
                      <a:pt x="399433" y="21413"/>
                      <a:pt x="437895" y="55116"/>
                      <a:pt x="452098" y="100593"/>
                    </a:cubicBezTo>
                    <a:cubicBezTo>
                      <a:pt x="466301" y="146071"/>
                      <a:pt x="453856" y="195672"/>
                      <a:pt x="419866" y="229058"/>
                    </a:cubicBez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838200" y="1968500"/>
                <a:ext cx="25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52400">
                    <a:moveTo>
                      <a:pt x="0" y="76200"/>
                    </a:moveTo>
                    <a:lnTo>
                      <a:pt x="50800" y="76200"/>
                    </a:lnTo>
                    <a:lnTo>
                      <a:pt x="101600" y="152400"/>
                    </a:lnTo>
                    <a:lnTo>
                      <a:pt x="152400" y="0"/>
                    </a:lnTo>
                    <a:lnTo>
                      <a:pt x="177800" y="76200"/>
                    </a:lnTo>
                    <a:lnTo>
                      <a:pt x="254000" y="7620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704850" y="1990725"/>
              <a:ext cx="3737253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XAI Medical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5330" y="2726055"/>
              <a:ext cx="91026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Ứng dụng Trí tuệ Nhân tạo giải thích được trong Chẩn đoán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3107055"/>
              <a:ext cx="31610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Tràn dịch màng phổi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810000"/>
              <a:ext cx="381000" cy="38100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2950" y="4124325"/>
              <a:ext cx="39485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0E0E0"/>
                  </a:solidFill>
                  <a:latin typeface="Arial"/>
                  <a:ea typeface="Microsoft YaHei"/>
                  <a:cs typeface="Arial"/>
                </a:rPr>
                <a:t>Báo cáo Dự án Y Tế &amp; Trí tuệ nhân tạo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571500" y="470535"/>
            <a:ext cx="11049000" cy="548640"/>
            <a:chOff x="571500" y="470535"/>
            <a:chExt cx="11049000" cy="548640"/>
          </a:xfrm>
        </p:grpSpPr>
        <p:grpSp>
          <p:nvGrpSpPr>
            <p:cNvPr id="6" name="Group 6"/>
            <p:cNvGrpSpPr/>
            <p:nvPr/>
          </p:nvGrpSpPr>
          <p:grpSpPr>
            <a:xfrm>
              <a:off x="598859" y="514366"/>
              <a:ext cx="288171" cy="247577"/>
              <a:chOff x="598859" y="514366"/>
              <a:chExt cx="288171" cy="247577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742950" y="6048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Freeform 4"/>
              <p:cNvSpPr/>
              <p:nvPr/>
            </p:nvSpPr>
            <p:spPr>
              <a:xfrm>
                <a:off x="598859" y="51436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742950" y="704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13460" y="470535"/>
              <a:ext cx="816329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77B6"/>
                  </a:solidFill>
                  <a:latin typeface="Arial"/>
                  <a:ea typeface="Microsoft YaHei"/>
                  <a:cs typeface="Arial"/>
                </a:rPr>
                <a:t>Đặt vấn đề &amp; Giới hạn của AI truyền thống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428750"/>
            <a:ext cx="5997416" cy="3810000"/>
            <a:chOff x="571500" y="1428750"/>
            <a:chExt cx="5997416" cy="3810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428750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5830" y="1773555"/>
              <a:ext cx="432176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Sự nguy hiểm của Tràn dịch màng phổi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3450" y="2409825"/>
              <a:ext cx="56354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Tràn dịch màng phổi là tình trạng tích tụ dịch bất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3450" y="2743200"/>
              <a:ext cx="36090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thường, có thể đe dọa tính mạng.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3450" y="3171825"/>
              <a:ext cx="463524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Cần được phát hiện nhanh chóng qua ảnh X-quang ngực.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2176" y="3752850"/>
              <a:ext cx="505491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AI có khả năng giúp bác sĩ sàng lọc nhanh hàng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2176" y="4052590"/>
              <a:ext cx="24588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ngàn ca bệnh mỗi ngày.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0" y="1428750"/>
            <a:ext cx="5931694" cy="3810000"/>
            <a:chOff x="6096000" y="1428750"/>
            <a:chExt cx="5931694" cy="3810000"/>
          </a:xfrm>
        </p:grpSpPr>
        <p:sp>
          <p:nvSpPr>
            <p:cNvPr id="18" name="Rectangle 18"/>
            <p:cNvSpPr/>
            <p:nvPr/>
          </p:nvSpPr>
          <p:spPr>
            <a:xfrm>
              <a:off x="6096000" y="1428750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50330" y="1773555"/>
              <a:ext cx="28992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Giới hạn "Hộp đen" của AI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57950" y="2409825"/>
              <a:ext cx="51973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Các mô hình Deep Learning truyền thống đưa ra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57950" y="2743200"/>
              <a:ext cx="44962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kết quả nhưng KHÔNG giải thích được lý do.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7950" y="3171825"/>
              <a:ext cx="55697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Trong y tế, tính mạng con người là ưu tiên số một.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7950" y="3600450"/>
              <a:ext cx="51096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Bác sĩ cần biết chính xác AI đang nhìn vào đâu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57950" y="3933825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để đưa ra chẩn đoán.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7950" y="4362450"/>
              <a:ext cx="54782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Giải pháp: Explainable AI (XAI) kết hợp Grad-CAM.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7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571500" y="470535"/>
            <a:ext cx="11049000" cy="548640"/>
            <a:chOff x="571500" y="470535"/>
            <a:chExt cx="11049000" cy="548640"/>
          </a:xfrm>
        </p:grpSpPr>
        <p:grpSp>
          <p:nvGrpSpPr>
            <p:cNvPr id="10" name="Group 10"/>
            <p:cNvGrpSpPr/>
            <p:nvPr/>
          </p:nvGrpSpPr>
          <p:grpSpPr>
            <a:xfrm>
              <a:off x="642938" y="531900"/>
              <a:ext cx="230016" cy="231600"/>
              <a:chOff x="642938" y="531900"/>
              <a:chExt cx="230016" cy="2316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42938" y="533400"/>
                <a:ext cx="571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286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42862" y="0"/>
                    </a:lnTo>
                    <a:cubicBezTo>
                      <a:pt x="50753" y="0"/>
                      <a:pt x="57150" y="6397"/>
                      <a:pt x="57150" y="14288"/>
                    </a:cubicBezTo>
                    <a:lnTo>
                      <a:pt x="57150" y="214312"/>
                    </a:lnTo>
                    <a:cubicBezTo>
                      <a:pt x="57150" y="222203"/>
                      <a:pt x="50753" y="228600"/>
                      <a:pt x="42862" y="228600"/>
                    </a:cubicBezTo>
                    <a:lnTo>
                      <a:pt x="14288" y="228600"/>
                    </a:lnTo>
                    <a:cubicBezTo>
                      <a:pt x="6397" y="228600"/>
                      <a:pt x="0" y="222203"/>
                      <a:pt x="0" y="214312"/>
                    </a:cubicBezTo>
                    <a:lnTo>
                      <a:pt x="0" y="1428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Freeform 4"/>
              <p:cNvSpPr/>
              <p:nvPr/>
            </p:nvSpPr>
            <p:spPr>
              <a:xfrm>
                <a:off x="700088" y="533400"/>
                <a:ext cx="571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286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42862" y="0"/>
                    </a:lnTo>
                    <a:cubicBezTo>
                      <a:pt x="50753" y="0"/>
                      <a:pt x="57150" y="6397"/>
                      <a:pt x="57150" y="14288"/>
                    </a:cubicBezTo>
                    <a:lnTo>
                      <a:pt x="57150" y="214312"/>
                    </a:lnTo>
                    <a:cubicBezTo>
                      <a:pt x="57150" y="222203"/>
                      <a:pt x="50753" y="228600"/>
                      <a:pt x="42862" y="228600"/>
                    </a:cubicBezTo>
                    <a:lnTo>
                      <a:pt x="14288" y="228600"/>
                    </a:lnTo>
                    <a:cubicBezTo>
                      <a:pt x="6397" y="228600"/>
                      <a:pt x="0" y="222203"/>
                      <a:pt x="0" y="214312"/>
                    </a:cubicBezTo>
                    <a:lnTo>
                      <a:pt x="0" y="1428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642938" y="5905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700088" y="7048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755822" y="531900"/>
                <a:ext cx="117132" cy="231600"/>
              </a:xfrm>
              <a:custGeom>
                <a:avLst/>
                <a:gdLst/>
                <a:ahLst/>
                <a:cxnLst/>
                <a:rect l="l" t="t" r="r" b="b"/>
                <a:pathLst>
                  <a:path w="117132" h="231600">
                    <a:moveTo>
                      <a:pt x="12889" y="9501"/>
                    </a:moveTo>
                    <a:lnTo>
                      <a:pt x="44093" y="1929"/>
                    </a:lnTo>
                    <a:cubicBezTo>
                      <a:pt x="52122" y="0"/>
                      <a:pt x="60280" y="4643"/>
                      <a:pt x="62409" y="12387"/>
                    </a:cubicBezTo>
                    <a:lnTo>
                      <a:pt x="115201" y="204097"/>
                    </a:lnTo>
                    <a:cubicBezTo>
                      <a:pt x="117132" y="211370"/>
                      <a:pt x="113206" y="218917"/>
                      <a:pt x="106143" y="221513"/>
                    </a:cubicBezTo>
                    <a:lnTo>
                      <a:pt x="104243" y="222099"/>
                    </a:lnTo>
                    <a:lnTo>
                      <a:pt x="73039" y="229672"/>
                    </a:lnTo>
                    <a:cubicBezTo>
                      <a:pt x="65009" y="231600"/>
                      <a:pt x="56851" y="226957"/>
                      <a:pt x="54722" y="219213"/>
                    </a:cubicBezTo>
                    <a:lnTo>
                      <a:pt x="1930" y="27503"/>
                    </a:lnTo>
                    <a:cubicBezTo>
                      <a:pt x="0" y="20230"/>
                      <a:pt x="3925" y="12683"/>
                      <a:pt x="10988" y="10087"/>
                    </a:cubicBezTo>
                    <a:lnTo>
                      <a:pt x="12889" y="950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771525" y="590550"/>
                <a:ext cx="57150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4288">
                    <a:moveTo>
                      <a:pt x="0" y="14288"/>
                    </a:moveTo>
                    <a:lnTo>
                      <a:pt x="5715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800100" y="690848"/>
                <a:ext cx="56050" cy="14002"/>
              </a:xfrm>
              <a:custGeom>
                <a:avLst/>
                <a:gdLst/>
                <a:ahLst/>
                <a:cxnLst/>
                <a:rect l="l" t="t" r="r" b="b"/>
                <a:pathLst>
                  <a:path w="56050" h="14002">
                    <a:moveTo>
                      <a:pt x="0" y="14002"/>
                    </a:moveTo>
                    <a:lnTo>
                      <a:pt x="5605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13460" y="470535"/>
              <a:ext cx="822539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77B6"/>
                  </a:solidFill>
                  <a:latin typeface="Arial"/>
                  <a:ea typeface="Microsoft YaHei"/>
                  <a:cs typeface="Arial"/>
                </a:rPr>
                <a:t>Các nghiên cứu liên quan (Related Works)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1428750"/>
            <a:ext cx="12219146" cy="4191000"/>
            <a:chOff x="571500" y="1428750"/>
            <a:chExt cx="12219146" cy="4191000"/>
          </a:xfrm>
        </p:grpSpPr>
        <p:sp>
          <p:nvSpPr>
            <p:cNvPr id="14" name="Rectangle 14"/>
            <p:cNvSpPr/>
            <p:nvPr/>
          </p:nvSpPr>
          <p:spPr>
            <a:xfrm>
              <a:off x="571500" y="1428750"/>
              <a:ext cx="11049000" cy="41910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929640" y="1710690"/>
              <a:ext cx="9659302" cy="1003935"/>
              <a:chOff x="929640" y="1710690"/>
              <a:chExt cx="9659302" cy="1003935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929640" y="1710690"/>
                <a:ext cx="823014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1. Các hệ thống CAD (Computer-Aided Diagnosis) truyền thống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3450" y="2124075"/>
                <a:ext cx="873537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A4A4A"/>
                    </a:solidFill>
                    <a:latin typeface="Arial"/>
                    <a:ea typeface="Microsoft YaHei"/>
                    <a:cs typeface="Arial"/>
                  </a:rPr>
                  <a:t>• Mô hình: Random Forest, SVM với đặc trưng thủ công (Hand-crafted features).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3450" y="2409825"/>
                <a:ext cx="965549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A4A4A"/>
                    </a:solidFill>
                    <a:latin typeface="Arial"/>
                    <a:ea typeface="Microsoft YaHei"/>
                    <a:cs typeface="Arial"/>
                  </a:rPr>
                  <a:t>• Hạn chế: Phụ thuộc vào chất lượng trích xuất đặc trưng, khó mở rộng (Scalability thấp).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929640" y="2948940"/>
              <a:ext cx="11630977" cy="1003935"/>
              <a:chOff x="929640" y="2948940"/>
              <a:chExt cx="11630977" cy="1003935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929640" y="2948940"/>
                <a:ext cx="778848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2. Nghiên cứu Deep Learning trên ChestX-ray14 &amp; CheXpert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33450" y="3362325"/>
                <a:ext cx="38500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A4A4A"/>
                    </a:solidFill>
                    <a:latin typeface="Arial"/>
                    <a:ea typeface="Microsoft YaHei"/>
                    <a:cs typeface="Arial"/>
                  </a:rPr>
                  <a:t>• Mô hình: ResNet-50, InceptionV3.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3450" y="3648075"/>
                <a:ext cx="1162716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A4A4A"/>
                    </a:solidFill>
                    <a:latin typeface="Arial"/>
                    <a:ea typeface="Microsoft YaHei"/>
                    <a:cs typeface="Arial"/>
                  </a:rPr>
                  <a:t>• Kết quả: AUC cao (0.80 - 0.85) nhưng thường bị "hộp đen", thiếu độ nhạy (Recall) với các ca tràn dịch nhỏ.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29640" y="4187190"/>
              <a:ext cx="11861006" cy="1003935"/>
              <a:chOff x="929640" y="4187190"/>
              <a:chExt cx="11861006" cy="1003935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929640" y="4187190"/>
                <a:ext cx="442086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077B6"/>
                    </a:solidFill>
                    <a:latin typeface="Arial"/>
                    <a:ea typeface="Microsoft YaHei"/>
                    <a:cs typeface="Arial"/>
                  </a:rPr>
                  <a:t>3. Đóng góp của Dự án XAI Medical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33450" y="4600575"/>
                <a:ext cx="94145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• Đột phá: Kết hợp DenseNet-121 (tối ưu hóa feature reuse) + Grad-CAM (Giải thích XAI).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3450" y="4886325"/>
                <a:ext cx="1185719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• Chú trọng đặc biệt vào việc tăng F1-Score và giảm Tiêu cực giả (False Negative) cho bệnh Tràn dịch màng phổi.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571500" y="470535"/>
            <a:ext cx="11049000" cy="548640"/>
            <a:chOff x="571500" y="470535"/>
            <a:chExt cx="11049000" cy="548640"/>
          </a:xfrm>
        </p:grpSpPr>
        <p:grpSp>
          <p:nvGrpSpPr>
            <p:cNvPr id="6" name="Group 6"/>
            <p:cNvGrpSpPr/>
            <p:nvPr/>
          </p:nvGrpSpPr>
          <p:grpSpPr>
            <a:xfrm>
              <a:off x="628650" y="519112"/>
              <a:ext cx="228600" cy="257176"/>
              <a:chOff x="628650" y="519112"/>
              <a:chExt cx="228600" cy="257176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28650" y="51911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Freeform 4"/>
              <p:cNvSpPr/>
              <p:nvPr/>
            </p:nvSpPr>
            <p:spPr>
              <a:xfrm>
                <a:off x="628650" y="56197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628650" y="6477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13460" y="470535"/>
              <a:ext cx="700394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77B6"/>
                  </a:solidFill>
                  <a:latin typeface="Arial"/>
                  <a:ea typeface="Microsoft YaHei"/>
                  <a:cs typeface="Arial"/>
                </a:rPr>
                <a:t>Tổng quan Dữ liệu - NIH Chest X-ray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44830" y="1202055"/>
            <a:ext cx="6429737" cy="5227320"/>
            <a:chOff x="544830" y="1202055"/>
            <a:chExt cx="6429737" cy="5227320"/>
          </a:xfrm>
        </p:grpSpPr>
        <p:sp>
          <p:nvSpPr>
            <p:cNvPr id="10" name="TextBox 10"/>
            <p:cNvSpPr txBox="1"/>
            <p:nvPr/>
          </p:nvSpPr>
          <p:spPr>
            <a:xfrm>
              <a:off x="544830" y="1202055"/>
              <a:ext cx="507716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Dataset Y khoa Hàng đầu Thế giới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2450" y="1743075"/>
              <a:ext cx="45400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Cung cấp bởi Viện Y tế Quốc gia Mỹ (NIH).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2450" y="2124075"/>
              <a:ext cx="41567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Quy mô khổng lồ: 112,000 ảnh X-quang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2450" y="2505075"/>
              <a:ext cx="36747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từ hơn 30,000 bệnh nhân lâm sàng.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4830" y="3297555"/>
              <a:ext cx="642973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Phân lớp Nhị phân (Binary Classification)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2450" y="3838575"/>
              <a:ext cx="53287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Dự án XAI Medical trích xuất dữ liệu thành 2 nhóm: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2450" y="4219575"/>
              <a:ext cx="32239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1. Normal (Phổi bình thường)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2450" y="4600575"/>
              <a:ext cx="46961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2. Pleural Effusion (Tràn dịch màng phổi)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4830" y="5202555"/>
              <a:ext cx="282288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Chuẩn hoá Đầu vào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2450" y="5743575"/>
              <a:ext cx="42333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Kích thước: Resize về chuẩn 224x224.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2450" y="6124575"/>
              <a:ext cx="3981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Tăng cường: Random Flip, Rotation.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0" y="1428750"/>
            <a:ext cx="5334000" cy="4319588"/>
            <a:chOff x="6096000" y="1428750"/>
            <a:chExt cx="5334000" cy="4319588"/>
          </a:xfrm>
        </p:grpSpPr>
        <p:sp>
          <p:nvSpPr>
            <p:cNvPr id="22" name="Rectangle 22"/>
            <p:cNvSpPr/>
            <p:nvPr/>
          </p:nvSpPr>
          <p:spPr>
            <a:xfrm>
              <a:off x="6096000" y="1428750"/>
              <a:ext cx="5334000" cy="3810000"/>
            </a:xfrm>
            <a:prstGeom prst="roundRect">
              <a:avLst>
                <a:gd name="adj" fmla="val 4000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6403" t="17578" r="11155" b="8289"/>
            <a:stretch>
              <a:fillRect/>
            </a:stretch>
          </p:blipFill>
          <p:spPr>
            <a:xfrm>
              <a:off x="6096000" y="1501141"/>
              <a:ext cx="5333999" cy="3754736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665738" y="5474018"/>
              <a:ext cx="41945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08080"/>
                  </a:solidFill>
                  <a:latin typeface="Arial"/>
                  <a:ea typeface="Microsoft YaHei"/>
                  <a:cs typeface="Arial"/>
                </a:rPr>
                <a:t>Nguồn: NIH Chest X-ray Dataset trên Kaggle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21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571500" y="470535"/>
            <a:ext cx="11049000" cy="548640"/>
            <a:chOff x="571500" y="470535"/>
            <a:chExt cx="11049000" cy="548640"/>
          </a:xfrm>
        </p:grpSpPr>
        <p:grpSp>
          <p:nvGrpSpPr>
            <p:cNvPr id="7" name="Group 7"/>
            <p:cNvGrpSpPr/>
            <p:nvPr/>
          </p:nvGrpSpPr>
          <p:grpSpPr>
            <a:xfrm>
              <a:off x="614362" y="519112"/>
              <a:ext cx="257175" cy="257175"/>
              <a:chOff x="614362" y="519112"/>
              <a:chExt cx="257175" cy="2571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785812" y="590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Freeform 4"/>
              <p:cNvSpPr/>
              <p:nvPr/>
            </p:nvSpPr>
            <p:spPr>
              <a:xfrm>
                <a:off x="614362" y="5191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214312"/>
                    </a:lnTo>
                    <a:cubicBezTo>
                      <a:pt x="257175" y="237985"/>
                      <a:pt x="237985" y="257175"/>
                      <a:pt x="214312" y="257175"/>
                    </a:cubicBezTo>
                    <a:lnTo>
                      <a:pt x="42862" y="257175"/>
                    </a:lnTo>
                    <a:cubicBezTo>
                      <a:pt x="19190" y="257175"/>
                      <a:pt x="0" y="237985"/>
                      <a:pt x="0" y="214312"/>
                    </a:cubicBezTo>
                    <a:lnTo>
                      <a:pt x="0" y="4286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614362" y="620654"/>
                <a:ext cx="185738" cy="84196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84196">
                    <a:moveTo>
                      <a:pt x="0" y="84196"/>
                    </a:moveTo>
                    <a:lnTo>
                      <a:pt x="71438" y="12759"/>
                    </a:lnTo>
                    <a:cubicBezTo>
                      <a:pt x="84696" y="0"/>
                      <a:pt x="101041" y="0"/>
                      <a:pt x="114300" y="12759"/>
                    </a:cubicBezTo>
                    <a:lnTo>
                      <a:pt x="185738" y="84196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771525" y="649229"/>
                <a:ext cx="100012" cy="5562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55621">
                    <a:moveTo>
                      <a:pt x="0" y="27046"/>
                    </a:moveTo>
                    <a:lnTo>
                      <a:pt x="14288" y="12759"/>
                    </a:lnTo>
                    <a:cubicBezTo>
                      <a:pt x="27546" y="0"/>
                      <a:pt x="43891" y="0"/>
                      <a:pt x="57150" y="12759"/>
                    </a:cubicBezTo>
                    <a:lnTo>
                      <a:pt x="100012" y="5562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013460" y="470535"/>
              <a:ext cx="754221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77B6"/>
                  </a:solidFill>
                  <a:latin typeface="Arial"/>
                  <a:ea typeface="Microsoft YaHei"/>
                  <a:cs typeface="Arial"/>
                </a:rPr>
                <a:t>Phân tích Dữ liệu: Normal vs Effusion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05000" y="1428750"/>
            <a:ext cx="3810000" cy="3810000"/>
            <a:chOff x="1905000" y="1428750"/>
            <a:chExt cx="3810000" cy="3810000"/>
          </a:xfrm>
        </p:grpSpPr>
        <p:sp>
          <p:nvSpPr>
            <p:cNvPr id="11" name="Rectangle 11"/>
            <p:cNvSpPr/>
            <p:nvPr/>
          </p:nvSpPr>
          <p:spPr>
            <a:xfrm>
              <a:off x="1905000" y="1428750"/>
              <a:ext cx="3810000" cy="3810000"/>
            </a:xfrm>
            <a:prstGeom prst="roundRect">
              <a:avLst>
                <a:gd name="adj" fmla="val 4000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5500" y="1619250"/>
              <a:ext cx="3429000" cy="342900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6477000" y="1428750"/>
            <a:ext cx="3810000" cy="3810000"/>
            <a:chOff x="6477000" y="1428750"/>
            <a:chExt cx="3810000" cy="3810000"/>
          </a:xfrm>
        </p:grpSpPr>
        <p:sp>
          <p:nvSpPr>
            <p:cNvPr id="14" name="Rectangle 14"/>
            <p:cNvSpPr/>
            <p:nvPr/>
          </p:nvSpPr>
          <p:spPr>
            <a:xfrm>
              <a:off x="6477000" y="1428750"/>
              <a:ext cx="3810000" cy="3810000"/>
            </a:xfrm>
            <a:prstGeom prst="roundRect">
              <a:avLst>
                <a:gd name="adj" fmla="val 4000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7500" y="1619250"/>
              <a:ext cx="3429000" cy="3429000"/>
            </a:xfrm>
            <a:prstGeom prst="rect">
              <a:avLst/>
            </a:prstGeom>
          </p:spPr>
        </p:pic>
      </p:grpSp>
      <p:sp>
        <p:nvSpPr>
          <p:cNvPr id="17" name="TextBox 17"/>
          <p:cNvSpPr txBox="1"/>
          <p:nvPr/>
        </p:nvSpPr>
        <p:spPr>
          <a:xfrm>
            <a:off x="2487118" y="5488305"/>
            <a:ext cx="26457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Phổi bình thường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40994" y="5934075"/>
            <a:ext cx="31380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A4A4A"/>
                </a:solidFill>
                <a:latin typeface="Arial"/>
                <a:ea typeface="Microsoft YaHei"/>
                <a:cs typeface="Arial"/>
              </a:rPr>
              <a:t>Góc sườn hoành nhọn, sắc nét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01486" y="5488305"/>
            <a:ext cx="3161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6B6B"/>
                </a:solidFill>
                <a:latin typeface="Arial"/>
                <a:ea typeface="Microsoft YaHei"/>
                <a:cs typeface="Arial"/>
              </a:rPr>
              <a:t>Tràn dịch màng phổi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91275" y="593407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A4A4A"/>
                </a:solidFill>
                <a:latin typeface="Arial"/>
                <a:ea typeface="Microsoft YaHei"/>
                <a:cs typeface="Arial"/>
              </a:rPr>
              <a:t>Góc sườn hoành bị mờ (tù) do dịch tụ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3" grpId="0"/>
      <p:bldP spid="16" grpId="0"/>
      <p:bldP spid="17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571500" y="470535"/>
            <a:ext cx="11049000" cy="548640"/>
            <a:chOff x="571500" y="470535"/>
            <a:chExt cx="11049000" cy="548640"/>
          </a:xfrm>
        </p:grpSpPr>
        <p:grpSp>
          <p:nvGrpSpPr>
            <p:cNvPr id="13" name="Group 13"/>
            <p:cNvGrpSpPr/>
            <p:nvPr/>
          </p:nvGrpSpPr>
          <p:grpSpPr>
            <a:xfrm>
              <a:off x="614362" y="519112"/>
              <a:ext cx="257175" cy="257175"/>
              <a:chOff x="614362" y="519112"/>
              <a:chExt cx="257175" cy="2571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42938" y="5476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85738" y="0"/>
                    </a:lnTo>
                    <a:cubicBezTo>
                      <a:pt x="193628" y="0"/>
                      <a:pt x="200025" y="6397"/>
                      <a:pt x="200025" y="14288"/>
                    </a:cubicBezTo>
                    <a:lnTo>
                      <a:pt x="200025" y="185738"/>
                    </a:lnTo>
                    <a:cubicBezTo>
                      <a:pt x="200025" y="193628"/>
                      <a:pt x="193628" y="200025"/>
                      <a:pt x="185738" y="200025"/>
                    </a:cubicBezTo>
                    <a:lnTo>
                      <a:pt x="14288" y="200025"/>
                    </a:lnTo>
                    <a:cubicBezTo>
                      <a:pt x="6397" y="200025"/>
                      <a:pt x="0" y="193628"/>
                      <a:pt x="0" y="185738"/>
                    </a:cubicBezTo>
                    <a:lnTo>
                      <a:pt x="0" y="1428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Freeform 4"/>
              <p:cNvSpPr/>
              <p:nvPr/>
            </p:nvSpPr>
            <p:spPr>
              <a:xfrm>
                <a:off x="700088" y="6048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0"/>
                    </a:lnTo>
                    <a:lnTo>
                      <a:pt x="85725" y="85725"/>
                    </a:lnTo>
                    <a:lnTo>
                      <a:pt x="0" y="8572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614362" y="6191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614362" y="6762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714375" y="5191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771525" y="5191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842962" y="6191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28575" y="0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842962" y="6762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28575" y="0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771525" y="7477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28575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714375" y="7477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28575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013460" y="470535"/>
              <a:ext cx="870155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77B6"/>
                  </a:solidFill>
                  <a:latin typeface="Arial"/>
                  <a:ea typeface="Microsoft YaHei"/>
                  <a:cs typeface="Arial"/>
                </a:rPr>
                <a:t>Kiến trúc Mô hình - Vì sao là DenseNet-121?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8640" y="1234440"/>
            <a:ext cx="11774662" cy="4099560"/>
            <a:chOff x="548640" y="1234440"/>
            <a:chExt cx="11774662" cy="4099560"/>
          </a:xfrm>
        </p:grpSpPr>
        <p:sp>
          <p:nvSpPr>
            <p:cNvPr id="17" name="TextBox 17"/>
            <p:cNvSpPr txBox="1"/>
            <p:nvPr/>
          </p:nvSpPr>
          <p:spPr>
            <a:xfrm>
              <a:off x="548640" y="1234440"/>
              <a:ext cx="72916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DenseNet (Densely Connected Convolutional Networks)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571500" y="1905000"/>
              <a:ext cx="11406759" cy="952500"/>
              <a:chOff x="571500" y="1905000"/>
              <a:chExt cx="11406759" cy="952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71500" y="1905000"/>
                <a:ext cx="11049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8F9FA"/>
              </a:solidFill>
              <a:ln w="9525">
                <a:solidFill>
                  <a:srgbClr val="E0E0E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41045" y="2107882"/>
                <a:ext cx="573512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077B6"/>
                    </a:solidFill>
                    <a:latin typeface="Arial"/>
                    <a:ea typeface="Microsoft YaHei"/>
                    <a:cs typeface="Arial"/>
                  </a:rPr>
                  <a:t>1. Chống suy biến đạo hàm (Vanishing Gradient)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44855" y="2473642"/>
                <a:ext cx="1123340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A4A4A"/>
                    </a:solidFill>
                    <a:latin typeface="Arial"/>
                    <a:ea typeface="Microsoft YaHei"/>
                    <a:cs typeface="Arial"/>
                  </a:rPr>
                  <a:t>Bằng cách kết nối trực tiếp tất cả các lớp (layers) với nhau, đạo hàm có thể đi sâu vào mô hình mà không bị mất mát.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71500" y="3143250"/>
              <a:ext cx="11554635" cy="952500"/>
              <a:chOff x="571500" y="3143250"/>
              <a:chExt cx="11554635" cy="952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3143250"/>
                <a:ext cx="11049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8F9FA"/>
              </a:solidFill>
              <a:ln w="9525">
                <a:solidFill>
                  <a:srgbClr val="E0E0E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41045" y="3346132"/>
                <a:ext cx="544413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077B6"/>
                    </a:solidFill>
                    <a:latin typeface="Arial"/>
                    <a:ea typeface="Microsoft YaHei"/>
                    <a:cs typeface="Arial"/>
                  </a:rPr>
                  <a:t>2. Bảo toàn Feature y khoa (Feature Reuse)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44855" y="3711892"/>
                <a:ext cx="113812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A4A4A"/>
                    </a:solidFill>
                    <a:latin typeface="Arial"/>
                    <a:ea typeface="Microsoft YaHei"/>
                    <a:cs typeface="Arial"/>
                  </a:rPr>
                  <a:t>Hình ảnh X-quang có cấu trúc rất giống nhau (xương, tim, phổi). DenseNet giúp tái sử dụng các đặc trưng này hiệu quả.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71500" y="4381500"/>
              <a:ext cx="11751802" cy="952500"/>
              <a:chOff x="571500" y="4381500"/>
              <a:chExt cx="11751802" cy="952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71500" y="4381500"/>
                <a:ext cx="11049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8F9FA"/>
              </a:solidFill>
              <a:ln w="9525">
                <a:solidFill>
                  <a:srgbClr val="E0E0E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41045" y="4584382"/>
                <a:ext cx="326806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077B6"/>
                    </a:solidFill>
                    <a:latin typeface="Arial"/>
                    <a:ea typeface="Microsoft YaHei"/>
                    <a:cs typeface="Arial"/>
                  </a:rPr>
                  <a:t>3. Số lượng tham số ít hơn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44855" y="4950142"/>
                <a:ext cx="1157844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A4A4A"/>
                    </a:solidFill>
                    <a:latin typeface="Arial"/>
                    <a:ea typeface="Microsoft YaHei"/>
                    <a:cs typeface="Arial"/>
                  </a:rPr>
                  <a:t>Mặc dù có 121 layers, nó hiệu quả hơn ResNet vì các filter map nhỏ hẹp hơn, giúp mô hình nhỏ gọn và chạy nhanh trên Web.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571500" y="470535"/>
            <a:ext cx="11049000" cy="548640"/>
            <a:chOff x="571500" y="470535"/>
            <a:chExt cx="11049000" cy="548640"/>
          </a:xfrm>
        </p:grpSpPr>
        <p:grpSp>
          <p:nvGrpSpPr>
            <p:cNvPr id="8" name="Group 8"/>
            <p:cNvGrpSpPr/>
            <p:nvPr/>
          </p:nvGrpSpPr>
          <p:grpSpPr>
            <a:xfrm>
              <a:off x="628650" y="533400"/>
              <a:ext cx="228600" cy="228600"/>
              <a:chOff x="628650" y="533400"/>
              <a:chExt cx="228600" cy="2286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28650" y="533400"/>
                <a:ext cx="571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2862">
                    <a:moveTo>
                      <a:pt x="0" y="42862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Freeform 4"/>
              <p:cNvSpPr/>
              <p:nvPr/>
            </p:nvSpPr>
            <p:spPr>
              <a:xfrm>
                <a:off x="628650" y="719138"/>
                <a:ext cx="571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2862">
                    <a:moveTo>
                      <a:pt x="0" y="0"/>
                    </a:moveTo>
                    <a:lnTo>
                      <a:pt x="0" y="14288"/>
                    </a:lnTo>
                    <a:cubicBezTo>
                      <a:pt x="0" y="30069"/>
                      <a:pt x="12793" y="42862"/>
                      <a:pt x="28575" y="42862"/>
                    </a:cubicBezTo>
                    <a:lnTo>
                      <a:pt x="57150" y="4286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800100" y="533400"/>
                <a:ext cx="571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2862">
                    <a:moveTo>
                      <a:pt x="0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4286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800100" y="719138"/>
                <a:ext cx="571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2862">
                    <a:moveTo>
                      <a:pt x="0" y="42862"/>
                    </a:moveTo>
                    <a:lnTo>
                      <a:pt x="28575" y="42862"/>
                    </a:lnTo>
                    <a:cubicBezTo>
                      <a:pt x="44357" y="42862"/>
                      <a:pt x="57150" y="30069"/>
                      <a:pt x="57150" y="14288"/>
                    </a:cubicBezTo>
                    <a:lnTo>
                      <a:pt x="5715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642938" y="647700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13460" y="470535"/>
              <a:ext cx="88257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77B6"/>
                  </a:solidFill>
                  <a:latin typeface="Arial"/>
                  <a:ea typeface="Microsoft YaHei"/>
                  <a:cs typeface="Arial"/>
                </a:rPr>
                <a:t>Explainable AI (XAI) - Bản đồ nhiệt Grad-CAM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428750"/>
            <a:ext cx="4762500" cy="4238625"/>
            <a:chOff x="571500" y="1428750"/>
            <a:chExt cx="4762500" cy="4238625"/>
          </a:xfrm>
        </p:grpSpPr>
        <p:sp>
          <p:nvSpPr>
            <p:cNvPr id="12" name="Rectangle 12"/>
            <p:cNvSpPr/>
            <p:nvPr/>
          </p:nvSpPr>
          <p:spPr>
            <a:xfrm>
              <a:off x="571500" y="1428750"/>
              <a:ext cx="4762500" cy="41910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4390" y="1710690"/>
              <a:ext cx="27784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Cơ chế của Grad-CAM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8200" y="2219325"/>
              <a:ext cx="40143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Grad-CAM (Gradient-weighted Class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8200" y="2552700"/>
              <a:ext cx="40252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Activation Mapping) dùng đạo hàm của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8200" y="2886075"/>
              <a:ext cx="41348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lớp Convolutional cuối cùng để xác định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8200" y="3219450"/>
              <a:ext cx="40362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mức độ quan trọng của từng vùng ảnh.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8200" y="3790950"/>
              <a:ext cx="37514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Màu ĐỎ: Vùng AI chú ý nhiều nhất.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8200" y="4124325"/>
              <a:ext cx="35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Màu XANH: Vùng AI ít quan tâm.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8200" y="4695825"/>
              <a:ext cx="23728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Kiểm chứng lâm sàng: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8200" y="5029200"/>
              <a:ext cx="40800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Bản đồ nhiệt phải sáng lên ở các vị trí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8200" y="5362575"/>
              <a:ext cx="38719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như góc sườn hoành (nơi chứa dịch).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5715291" y="1452887"/>
            <a:ext cx="5905500" cy="419100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344201B-BF62-E74C-56E2-C9ED04D4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291" y="1428750"/>
            <a:ext cx="5905209" cy="42329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571500" y="470535"/>
            <a:ext cx="11049000" cy="548640"/>
            <a:chOff x="571500" y="470535"/>
            <a:chExt cx="11049000" cy="548640"/>
          </a:xfrm>
        </p:grpSpPr>
        <p:grpSp>
          <p:nvGrpSpPr>
            <p:cNvPr id="5" name="Group 5"/>
            <p:cNvGrpSpPr/>
            <p:nvPr/>
          </p:nvGrpSpPr>
          <p:grpSpPr>
            <a:xfrm>
              <a:off x="608090" y="512840"/>
              <a:ext cx="269719" cy="269719"/>
              <a:chOff x="608090" y="512840"/>
              <a:chExt cx="269719" cy="269719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08090" y="512840"/>
                <a:ext cx="269719" cy="269719"/>
              </a:xfrm>
              <a:custGeom>
                <a:avLst/>
                <a:gdLst/>
                <a:ahLst/>
                <a:cxnLst/>
                <a:rect l="l" t="t" r="r" b="b"/>
                <a:pathLst>
                  <a:path w="269719" h="269719">
                    <a:moveTo>
                      <a:pt x="110928" y="25089"/>
                    </a:moveTo>
                    <a:cubicBezTo>
                      <a:pt x="117015" y="0"/>
                      <a:pt x="152705" y="0"/>
                      <a:pt x="158791" y="25089"/>
                    </a:cubicBezTo>
                    <a:cubicBezTo>
                      <a:pt x="160644" y="32734"/>
                      <a:pt x="166036" y="39034"/>
                      <a:pt x="173302" y="42044"/>
                    </a:cubicBezTo>
                    <a:cubicBezTo>
                      <a:pt x="180569" y="45055"/>
                      <a:pt x="188837" y="44414"/>
                      <a:pt x="195553" y="40319"/>
                    </a:cubicBezTo>
                    <a:cubicBezTo>
                      <a:pt x="217599" y="26889"/>
                      <a:pt x="242845" y="52121"/>
                      <a:pt x="229414" y="74181"/>
                    </a:cubicBezTo>
                    <a:cubicBezTo>
                      <a:pt x="225325" y="80894"/>
                      <a:pt x="224686" y="89155"/>
                      <a:pt x="227693" y="96417"/>
                    </a:cubicBezTo>
                    <a:cubicBezTo>
                      <a:pt x="230700" y="103680"/>
                      <a:pt x="236993" y="109071"/>
                      <a:pt x="244631" y="110928"/>
                    </a:cubicBezTo>
                    <a:cubicBezTo>
                      <a:pt x="269719" y="117015"/>
                      <a:pt x="269719" y="152705"/>
                      <a:pt x="244631" y="158791"/>
                    </a:cubicBezTo>
                    <a:cubicBezTo>
                      <a:pt x="236986" y="160644"/>
                      <a:pt x="230686" y="166036"/>
                      <a:pt x="227675" y="173302"/>
                    </a:cubicBezTo>
                    <a:cubicBezTo>
                      <a:pt x="224664" y="180569"/>
                      <a:pt x="225305" y="188837"/>
                      <a:pt x="229400" y="195553"/>
                    </a:cubicBezTo>
                    <a:cubicBezTo>
                      <a:pt x="242830" y="217599"/>
                      <a:pt x="217599" y="242845"/>
                      <a:pt x="195539" y="229414"/>
                    </a:cubicBezTo>
                    <a:cubicBezTo>
                      <a:pt x="188826" y="225325"/>
                      <a:pt x="180564" y="224686"/>
                      <a:pt x="173302" y="227693"/>
                    </a:cubicBezTo>
                    <a:cubicBezTo>
                      <a:pt x="166040" y="230700"/>
                      <a:pt x="160649" y="236993"/>
                      <a:pt x="158791" y="244631"/>
                    </a:cubicBezTo>
                    <a:cubicBezTo>
                      <a:pt x="152705" y="269719"/>
                      <a:pt x="117015" y="269719"/>
                      <a:pt x="110928" y="244631"/>
                    </a:cubicBezTo>
                    <a:cubicBezTo>
                      <a:pt x="109076" y="236986"/>
                      <a:pt x="103684" y="230686"/>
                      <a:pt x="96417" y="227675"/>
                    </a:cubicBezTo>
                    <a:cubicBezTo>
                      <a:pt x="89150" y="224664"/>
                      <a:pt x="80882" y="225305"/>
                      <a:pt x="74166" y="229400"/>
                    </a:cubicBezTo>
                    <a:cubicBezTo>
                      <a:pt x="52121" y="242830"/>
                      <a:pt x="26875" y="217599"/>
                      <a:pt x="40305" y="195539"/>
                    </a:cubicBezTo>
                    <a:cubicBezTo>
                      <a:pt x="44394" y="188826"/>
                      <a:pt x="45033" y="180564"/>
                      <a:pt x="42026" y="173302"/>
                    </a:cubicBezTo>
                    <a:cubicBezTo>
                      <a:pt x="39019" y="166040"/>
                      <a:pt x="32727" y="160649"/>
                      <a:pt x="25089" y="158791"/>
                    </a:cubicBezTo>
                    <a:cubicBezTo>
                      <a:pt x="0" y="152705"/>
                      <a:pt x="0" y="117015"/>
                      <a:pt x="25089" y="110928"/>
                    </a:cubicBezTo>
                    <a:cubicBezTo>
                      <a:pt x="32734" y="109076"/>
                      <a:pt x="39034" y="103684"/>
                      <a:pt x="42044" y="96417"/>
                    </a:cubicBezTo>
                    <a:cubicBezTo>
                      <a:pt x="45055" y="89150"/>
                      <a:pt x="44414" y="80882"/>
                      <a:pt x="40319" y="74166"/>
                    </a:cubicBezTo>
                    <a:cubicBezTo>
                      <a:pt x="26889" y="52121"/>
                      <a:pt x="52121" y="26875"/>
                      <a:pt x="74181" y="40305"/>
                    </a:cubicBezTo>
                    <a:cubicBezTo>
                      <a:pt x="88468" y="48992"/>
                      <a:pt x="106985" y="41305"/>
                      <a:pt x="110928" y="25089"/>
                    </a:cubicBez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Freeform 4"/>
              <p:cNvSpPr/>
              <p:nvPr/>
            </p:nvSpPr>
            <p:spPr>
              <a:xfrm>
                <a:off x="700088" y="6048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013460" y="470535"/>
              <a:ext cx="59895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77B6"/>
                  </a:solidFill>
                  <a:latin typeface="Arial"/>
                  <a:ea typeface="Microsoft YaHei"/>
                  <a:cs typeface="Arial"/>
                </a:rPr>
                <a:t>Quá trình Huấn luyện Mô hình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48640" y="1234440"/>
            <a:ext cx="11467195" cy="1718310"/>
            <a:chOff x="548640" y="1234440"/>
            <a:chExt cx="11467195" cy="1718310"/>
          </a:xfrm>
        </p:grpSpPr>
        <p:sp>
          <p:nvSpPr>
            <p:cNvPr id="9" name="TextBox 9"/>
            <p:cNvSpPr txBox="1"/>
            <p:nvPr/>
          </p:nvSpPr>
          <p:spPr>
            <a:xfrm>
              <a:off x="548640" y="1234440"/>
              <a:ext cx="461409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Chiến lược chia dữ liệu (Data Split)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571500" y="1809750"/>
              <a:ext cx="3991927" cy="1143000"/>
              <a:chOff x="571500" y="1809750"/>
              <a:chExt cx="3991927" cy="1143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809750"/>
                <a:ext cx="3429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8F9FA"/>
              </a:solidFill>
              <a:ln w="9525">
                <a:solidFill>
                  <a:srgbClr val="E0E0E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71500" y="1809750"/>
                <a:ext cx="34290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0077B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73430" y="2059305"/>
                <a:ext cx="148641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70% Train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82955" y="2521268"/>
                <a:ext cx="378047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A4A4A"/>
                    </a:solidFill>
                    <a:latin typeface="Arial"/>
                    <a:ea typeface="Microsoft YaHei"/>
                    <a:cs typeface="Arial"/>
                  </a:rPr>
                  <a:t>Tập để mô hình học các mẫu (patterns)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381500" y="1809750"/>
              <a:ext cx="3853910" cy="1143000"/>
              <a:chOff x="4381500" y="1809750"/>
              <a:chExt cx="3853910" cy="1143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381500" y="1809750"/>
                <a:ext cx="3429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8F9FA"/>
              </a:solidFill>
              <a:ln w="9525">
                <a:solidFill>
                  <a:srgbClr val="E0E0E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4381500" y="1809750"/>
                <a:ext cx="34290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00D4FF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583430" y="2059305"/>
                <a:ext cx="213050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15% Validation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92955" y="2521268"/>
                <a:ext cx="3642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A4A4A"/>
                    </a:solidFill>
                    <a:latin typeface="Arial"/>
                    <a:ea typeface="Microsoft YaHei"/>
                    <a:cs typeface="Arial"/>
                  </a:rPr>
                  <a:t>Tập để tinh chỉnh và ngăn Overfitting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191500" y="1809750"/>
              <a:ext cx="3824335" cy="1143000"/>
              <a:chOff x="8191500" y="1809750"/>
              <a:chExt cx="3824335" cy="1143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191500" y="1809750"/>
                <a:ext cx="3429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8F9FA"/>
              </a:solidFill>
              <a:ln w="9525">
                <a:solidFill>
                  <a:srgbClr val="E0E0E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8191500" y="1809750"/>
                <a:ext cx="34290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F6B6B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93430" y="2059305"/>
                <a:ext cx="13092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15% Test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02955" y="2521268"/>
                <a:ext cx="36128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A4A4A"/>
                    </a:solidFill>
                    <a:latin typeface="Arial"/>
                    <a:ea typeface="Microsoft YaHei"/>
                    <a:cs typeface="Arial"/>
                  </a:rPr>
                  <a:t>Tập dữ liệu chưa từng thấy để đánh giá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48640" y="3615690"/>
            <a:ext cx="10881360" cy="1718310"/>
            <a:chOff x="548640" y="3615690"/>
            <a:chExt cx="10881360" cy="1718310"/>
          </a:xfrm>
        </p:grpSpPr>
        <p:sp>
          <p:nvSpPr>
            <p:cNvPr id="26" name="TextBox 26"/>
            <p:cNvSpPr txBox="1"/>
            <p:nvPr/>
          </p:nvSpPr>
          <p:spPr>
            <a:xfrm>
              <a:off x="548640" y="3615690"/>
              <a:ext cx="27922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Quy trình (Pipeline)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571500" y="4191000"/>
              <a:ext cx="10858500" cy="1143000"/>
              <a:chOff x="571500" y="4191000"/>
              <a:chExt cx="10858500" cy="1143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71500" y="4191000"/>
                <a:ext cx="22860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0077B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24854" y="4505325"/>
                <a:ext cx="157929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1. Truyền Xuôi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14592" y="4839652"/>
                <a:ext cx="1199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8F9FA"/>
                    </a:solidFill>
                    <a:latin typeface="Arial"/>
                    <a:ea typeface="Microsoft YaHei"/>
                    <a:cs typeface="Arial"/>
                  </a:rPr>
                  <a:t>(Forward Pass)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2952750" y="4762500"/>
                <a:ext cx="381000" cy="1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tailEnd type="triangle" w="lg" len="lg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5" name="Group 35"/>
              <p:cNvGrpSpPr/>
              <p:nvPr/>
            </p:nvGrpSpPr>
            <p:grpSpPr>
              <a:xfrm>
                <a:off x="3429000" y="4191000"/>
                <a:ext cx="2762250" cy="1143000"/>
                <a:chOff x="3429000" y="4191000"/>
                <a:chExt cx="2762250" cy="1143000"/>
              </a:xfrm>
            </p:grpSpPr>
            <p:sp>
              <p:nvSpPr>
                <p:cNvPr id="31" name="Rectangle 31"/>
                <p:cNvSpPr/>
                <p:nvPr/>
              </p:nvSpPr>
              <p:spPr>
                <a:xfrm>
                  <a:off x="3429000" y="4191000"/>
                  <a:ext cx="2286000" cy="1143000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0077B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3851362" y="4505325"/>
                  <a:ext cx="144127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2. Tính Loss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3837908" y="4839652"/>
                  <a:ext cx="1468184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F8F9FA"/>
                      </a:solidFill>
                      <a:latin typeface="Arial"/>
                      <a:ea typeface="Microsoft YaHei"/>
                      <a:cs typeface="Arial"/>
                    </a:rPr>
                    <a:t>(BCELoss function)</a:t>
                  </a:r>
                </a:p>
              </p:txBody>
            </p:sp>
            <p:sp>
              <p:nvSpPr>
                <p:cNvPr id="34" name="Line 34"/>
                <p:cNvSpPr/>
                <p:nvPr/>
              </p:nvSpPr>
              <p:spPr>
                <a:xfrm>
                  <a:off x="5810250" y="4762500"/>
                  <a:ext cx="381000" cy="1"/>
                </a:xfrm>
                <a:prstGeom prst="line">
                  <a:avLst/>
                </a:prstGeom>
                <a:noFill/>
                <a:ln w="38100">
                  <a:solidFill>
                    <a:srgbClr val="0077B6"/>
                  </a:solidFill>
                  <a:tailEnd type="triangle" w="lg" len="lg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6286500" y="4191000"/>
                <a:ext cx="2762250" cy="1143000"/>
                <a:chOff x="6286500" y="4191000"/>
                <a:chExt cx="2762250" cy="1143000"/>
              </a:xfrm>
            </p:grpSpPr>
            <p:sp>
              <p:nvSpPr>
                <p:cNvPr id="36" name="Rectangle 36"/>
                <p:cNvSpPr/>
                <p:nvPr/>
              </p:nvSpPr>
              <p:spPr>
                <a:xfrm>
                  <a:off x="6286500" y="4191000"/>
                  <a:ext cx="2286000" cy="1143000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0077B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519089" y="4505325"/>
                  <a:ext cx="1820823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3. Truyền Ngược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783586" y="4839652"/>
                  <a:ext cx="129182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F8F9FA"/>
                      </a:solidFill>
                      <a:latin typeface="Arial"/>
                      <a:ea typeface="Microsoft YaHei"/>
                      <a:cs typeface="Arial"/>
                    </a:rPr>
                    <a:t>Cập nhật Weights</a:t>
                  </a:r>
                </a:p>
              </p:txBody>
            </p:sp>
            <p:sp>
              <p:nvSpPr>
                <p:cNvPr id="39" name="Line 39"/>
                <p:cNvSpPr/>
                <p:nvPr/>
              </p:nvSpPr>
              <p:spPr>
                <a:xfrm>
                  <a:off x="8667750" y="4762500"/>
                  <a:ext cx="381000" cy="1"/>
                </a:xfrm>
                <a:prstGeom prst="line">
                  <a:avLst/>
                </a:prstGeom>
                <a:noFill/>
                <a:ln w="38100">
                  <a:solidFill>
                    <a:srgbClr val="0077B6"/>
                  </a:solidFill>
                  <a:tailEnd type="triangle" w="lg" len="lg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9144000" y="4191000"/>
                <a:ext cx="2286000" cy="1143000"/>
                <a:chOff x="9144000" y="4191000"/>
                <a:chExt cx="2286000" cy="1143000"/>
              </a:xfrm>
            </p:grpSpPr>
            <p:sp>
              <p:nvSpPr>
                <p:cNvPr id="41" name="Rectangle 41"/>
                <p:cNvSpPr/>
                <p:nvPr/>
              </p:nvSpPr>
              <p:spPr>
                <a:xfrm>
                  <a:off x="9144000" y="4191000"/>
                  <a:ext cx="2286000" cy="1143000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0077B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9560612" y="4505325"/>
                  <a:ext cx="1452777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4. Tối ưu hoá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610415" y="4839652"/>
                  <a:ext cx="1353169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F8F9FA"/>
                      </a:solidFill>
                      <a:latin typeface="Arial"/>
                      <a:ea typeface="Microsoft YaHei"/>
                      <a:cs typeface="Arial"/>
                    </a:rPr>
                    <a:t>(Adam Optimizer)</a:t>
                  </a: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25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571500" y="470535"/>
            <a:ext cx="11049000" cy="548640"/>
            <a:chOff x="571500" y="470535"/>
            <a:chExt cx="11049000" cy="548640"/>
          </a:xfrm>
        </p:grpSpPr>
        <p:grpSp>
          <p:nvGrpSpPr>
            <p:cNvPr id="6" name="Group 6"/>
            <p:cNvGrpSpPr/>
            <p:nvPr/>
          </p:nvGrpSpPr>
          <p:grpSpPr>
            <a:xfrm>
              <a:off x="614362" y="519112"/>
              <a:ext cx="257175" cy="257175"/>
              <a:chOff x="614362" y="519112"/>
              <a:chExt cx="257175" cy="2571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728662" y="6334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Freeform 4"/>
              <p:cNvSpPr/>
              <p:nvPr/>
            </p:nvSpPr>
            <p:spPr>
              <a:xfrm>
                <a:off x="671512" y="5762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614362" y="5191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13460" y="470535"/>
              <a:ext cx="814258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77B6"/>
                  </a:solidFill>
                  <a:latin typeface="Arial"/>
                  <a:ea typeface="Microsoft YaHei"/>
                  <a:cs typeface="Arial"/>
                </a:rPr>
                <a:t>Đánh giá Hiệu năng (Test/Validation Set)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9579" y="1143000"/>
            <a:ext cx="11202185" cy="2524125"/>
            <a:chOff x="439579" y="1143000"/>
            <a:chExt cx="11202185" cy="2524125"/>
          </a:xfrm>
        </p:grpSpPr>
        <p:sp>
          <p:nvSpPr>
            <p:cNvPr id="10" name="Rectangle 10"/>
            <p:cNvSpPr/>
            <p:nvPr/>
          </p:nvSpPr>
          <p:spPr>
            <a:xfrm>
              <a:off x="571500" y="1143000"/>
              <a:ext cx="2381250" cy="952500"/>
            </a:xfrm>
            <a:prstGeom prst="roundRect">
              <a:avLst>
                <a:gd name="adj" fmla="val 8000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9579" y="1362075"/>
              <a:ext cx="26450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Độ chính xác (Accuracy)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6406" y="1613535"/>
              <a:ext cx="13314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81.46%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3143250" y="1143000"/>
              <a:ext cx="2381250" cy="1019175"/>
              <a:chOff x="3143250" y="1143000"/>
              <a:chExt cx="2381250" cy="101917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143250" y="1143000"/>
                <a:ext cx="23812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BEB"/>
              </a:solidFill>
              <a:ln w="9525">
                <a:solidFill>
                  <a:srgbClr val="D97706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417713" y="1362075"/>
                <a:ext cx="183232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B45309"/>
                    </a:solidFill>
                    <a:latin typeface="Arial"/>
                    <a:ea typeface="Microsoft YaHei"/>
                    <a:cs typeface="Arial"/>
                  </a:rPr>
                  <a:t>Độ nhạy (Recall)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616400" y="1613535"/>
                <a:ext cx="1434951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D97706"/>
                    </a:solidFill>
                    <a:latin typeface="Arial"/>
                    <a:ea typeface="Microsoft YaHei"/>
                    <a:cs typeface="Arial"/>
                  </a:rPr>
                  <a:t>83.20%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5715000" y="1143000"/>
              <a:ext cx="2381250" cy="1019175"/>
              <a:chOff x="5715000" y="1143000"/>
              <a:chExt cx="2381250" cy="101917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715000" y="1143000"/>
                <a:ext cx="23812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0FDF4"/>
              </a:solidFill>
              <a:ln w="9525">
                <a:solidFill>
                  <a:srgbClr val="16A34A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409265" y="1362075"/>
                <a:ext cx="99271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5803D"/>
                    </a:solidFill>
                    <a:latin typeface="Arial"/>
                    <a:ea typeface="Microsoft YaHei"/>
                    <a:cs typeface="Arial"/>
                  </a:rPr>
                  <a:t>F1-Score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39906" y="1613535"/>
                <a:ext cx="1331438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16A34A"/>
                    </a:solidFill>
                    <a:latin typeface="Arial"/>
                    <a:ea typeface="Microsoft YaHei"/>
                    <a:cs typeface="Arial"/>
                  </a:rPr>
                  <a:t>81.30%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265485" y="1143000"/>
              <a:ext cx="3376279" cy="1057275"/>
              <a:chOff x="8265485" y="1143000"/>
              <a:chExt cx="3376279" cy="105727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286750" y="1143000"/>
                <a:ext cx="3333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8FAFC"/>
              </a:solidFill>
              <a:ln w="9525">
                <a:solidFill>
                  <a:srgbClr val="64748B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619554" y="1299210"/>
                <a:ext cx="26681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A4A4A"/>
                    </a:solidFill>
                    <a:latin typeface="Arial"/>
                    <a:ea typeface="Microsoft YaHei"/>
                    <a:cs typeface="Arial"/>
                  </a:rPr>
                  <a:t>Tham số: 7.04M | GFLOPs: 2.88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65485" y="1568768"/>
                <a:ext cx="33762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Thời gian suy luận (Inference time)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049395" y="1773555"/>
                <a:ext cx="18084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~45 ms/ảnh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552450" y="2505075"/>
              <a:ext cx="40060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Lưu ý cực kỳ quan trọng trong Y tế: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2450" y="2790825"/>
              <a:ext cx="110137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• Sai lầm Tích cực giả (False Positive): Chẩn đoán nhầm bình thường thành bệnh. (Tốn kém xét nghiệm).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2450" y="3124200"/>
              <a:ext cx="84341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• Sai lầm Tiêu cực giả (False Negative): Bỏ sót bệnh nhân đang bị Tràn dịch!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2450" y="3362325"/>
              <a:ext cx="96533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ĐÂY LÀ ĐIỀU CẦN GIẢM THIỂU TỐI ĐA ➔ Do đó RECALL (Độ nhạy) đạt 83.2% là thành công lớn.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857500" y="3714750"/>
            <a:ext cx="6477000" cy="3020949"/>
            <a:chOff x="2857500" y="3714750"/>
            <a:chExt cx="6477000" cy="3020949"/>
          </a:xfrm>
        </p:grpSpPr>
        <p:sp>
          <p:nvSpPr>
            <p:cNvPr id="31" name="Rectangle 31"/>
            <p:cNvSpPr/>
            <p:nvPr/>
          </p:nvSpPr>
          <p:spPr>
            <a:xfrm>
              <a:off x="2857500" y="3714750"/>
              <a:ext cx="6477000" cy="2857500"/>
            </a:xfrm>
            <a:prstGeom prst="roundRect">
              <a:avLst>
                <a:gd name="adj" fmla="val 5333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09532" y="3901440"/>
              <a:ext cx="49729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Ma trận nhầm lẫn (Confusion Matrix)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03983" y="4331018"/>
              <a:ext cx="23840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Thực tế (Ground Truth)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20774" y="4640103"/>
              <a:ext cx="10469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Bình thường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88017" y="4640103"/>
              <a:ext cx="854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Tràn dịch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 rot="-5400000">
              <a:off x="3105183" y="5577840"/>
              <a:ext cx="8209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Mô hình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 rot="16200000">
              <a:off x="3327867" y="5278374"/>
              <a:ext cx="10469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Bình thường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 rot="16200000">
              <a:off x="3420930" y="6186678"/>
              <a:ext cx="854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Tràn dịch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4000500" y="4953000"/>
              <a:ext cx="4886456" cy="1619250"/>
              <a:chOff x="4000500" y="4953000"/>
              <a:chExt cx="4886456" cy="16192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4000500" y="4953000"/>
                <a:ext cx="2286000" cy="762000"/>
              </a:xfrm>
              <a:prstGeom prst="rect">
                <a:avLst/>
              </a:prstGeom>
              <a:solidFill>
                <a:srgbClr val="E8F5E9"/>
              </a:solidFill>
              <a:ln w="19050">
                <a:solidFill>
                  <a:srgbClr val="2E7D32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179212" y="5140642"/>
                <a:ext cx="192857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True Negative (TN)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641390" y="5410200"/>
                <a:ext cx="100422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Tỷ lệ cao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4000500" y="5810250"/>
                <a:ext cx="2286000" cy="762000"/>
              </a:xfrm>
              <a:prstGeom prst="rect">
                <a:avLst/>
              </a:prstGeom>
              <a:solidFill>
                <a:srgbClr val="FFEBEE"/>
              </a:solidFill>
              <a:ln w="19050">
                <a:solidFill>
                  <a:srgbClr val="FF6B6B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174036" y="5997892"/>
                <a:ext cx="193892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6B6B"/>
                    </a:solidFill>
                    <a:latin typeface="Arial"/>
                    <a:ea typeface="Microsoft YaHei"/>
                    <a:cs typeface="Arial"/>
                  </a:rPr>
                  <a:t>False Positive (FP)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296346" y="6267450"/>
                <a:ext cx="169430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6B6B"/>
                    </a:solidFill>
                    <a:latin typeface="Arial"/>
                    <a:ea typeface="Microsoft YaHei"/>
                    <a:cs typeface="Arial"/>
                  </a:rPr>
                  <a:t>Chấp nhận được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6477000" y="4953000"/>
                <a:ext cx="2286000" cy="762000"/>
              </a:xfrm>
              <a:prstGeom prst="rect">
                <a:avLst/>
              </a:prstGeom>
              <a:solidFill>
                <a:srgbClr val="FFEBEE"/>
              </a:solidFill>
              <a:ln w="19050">
                <a:solidFill>
                  <a:srgbClr val="FF6B6B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624658" y="5140642"/>
                <a:ext cx="199068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6B6B"/>
                    </a:solidFill>
                    <a:latin typeface="Arial"/>
                    <a:ea typeface="Microsoft YaHei"/>
                    <a:cs typeface="Arial"/>
                  </a:rPr>
                  <a:t>False Negative (FN)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893612" y="5410200"/>
                <a:ext cx="145277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6B6B"/>
                    </a:solidFill>
                    <a:latin typeface="Arial"/>
                    <a:ea typeface="Microsoft YaHei"/>
                    <a:cs typeface="Arial"/>
                  </a:rPr>
                  <a:t>Tối thiểu hóa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6477000" y="5810250"/>
                <a:ext cx="2286000" cy="762000"/>
              </a:xfrm>
              <a:prstGeom prst="rect">
                <a:avLst/>
              </a:prstGeom>
              <a:solidFill>
                <a:srgbClr val="E8F5E9"/>
              </a:solidFill>
              <a:ln w="19050">
                <a:solidFill>
                  <a:srgbClr val="2E7D32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681590" y="5997892"/>
                <a:ext cx="187682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True Positive (TP)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353044" y="6267450"/>
                <a:ext cx="253391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Rất cao (Recall 83.2%)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30" grpId="0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571500" y="470535"/>
            <a:ext cx="11049000" cy="548640"/>
            <a:chOff x="571500" y="470535"/>
            <a:chExt cx="11049000" cy="548640"/>
          </a:xfrm>
        </p:grpSpPr>
        <p:grpSp>
          <p:nvGrpSpPr>
            <p:cNvPr id="5" name="Group 5"/>
            <p:cNvGrpSpPr/>
            <p:nvPr/>
          </p:nvGrpSpPr>
          <p:grpSpPr>
            <a:xfrm>
              <a:off x="614362" y="561975"/>
              <a:ext cx="257175" cy="195262"/>
              <a:chOff x="614362" y="561975"/>
              <a:chExt cx="257175" cy="19526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14362" y="747712"/>
                <a:ext cx="2571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525">
                    <a:moveTo>
                      <a:pt x="0" y="0"/>
                    </a:moveTo>
                    <a:lnTo>
                      <a:pt x="25717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Freeform 4"/>
              <p:cNvSpPr/>
              <p:nvPr/>
            </p:nvSpPr>
            <p:spPr>
              <a:xfrm>
                <a:off x="642938" y="561975"/>
                <a:ext cx="2000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42875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85738" y="0"/>
                    </a:lnTo>
                    <a:cubicBezTo>
                      <a:pt x="193628" y="0"/>
                      <a:pt x="200025" y="6397"/>
                      <a:pt x="200025" y="14288"/>
                    </a:cubicBezTo>
                    <a:lnTo>
                      <a:pt x="200025" y="128588"/>
                    </a:lnTo>
                    <a:cubicBezTo>
                      <a:pt x="200025" y="136478"/>
                      <a:pt x="193628" y="142875"/>
                      <a:pt x="185738" y="142875"/>
                    </a:cubicBezTo>
                    <a:lnTo>
                      <a:pt x="14288" y="142875"/>
                    </a:lnTo>
                    <a:cubicBezTo>
                      <a:pt x="6397" y="142875"/>
                      <a:pt x="0" y="136478"/>
                      <a:pt x="0" y="128588"/>
                    </a:cubicBezTo>
                    <a:lnTo>
                      <a:pt x="0" y="1428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013460" y="470535"/>
              <a:ext cx="42919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77B6"/>
                  </a:solidFill>
                  <a:latin typeface="Arial"/>
                  <a:ea typeface="Microsoft YaHei"/>
                  <a:cs typeface="Arial"/>
                </a:rPr>
                <a:t>Demo Kết quả Thực tế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48640" y="1234440"/>
            <a:ext cx="11071860" cy="4480560"/>
            <a:chOff x="548640" y="1234440"/>
            <a:chExt cx="11071860" cy="4480560"/>
          </a:xfrm>
        </p:grpSpPr>
        <p:sp>
          <p:nvSpPr>
            <p:cNvPr id="9" name="TextBox 9"/>
            <p:cNvSpPr txBox="1"/>
            <p:nvPr/>
          </p:nvSpPr>
          <p:spPr>
            <a:xfrm>
              <a:off x="548640" y="1234440"/>
              <a:ext cx="108373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Hệ thống XAI Medical có giao diện Web trực quan (React Frontend &amp; FastAPI Backend).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8640" y="1615440"/>
              <a:ext cx="911542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Khi bác sĩ tải ảnh X-quang lên, mô hình sẽ trả về 3 thông số then chốt: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571500" y="2381250"/>
              <a:ext cx="11049000" cy="3333750"/>
              <a:chOff x="571500" y="2381250"/>
              <a:chExt cx="11049000" cy="33337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2381250"/>
                <a:ext cx="11049000" cy="3333750"/>
              </a:xfrm>
              <a:prstGeom prst="roundRect">
                <a:avLst>
                  <a:gd name="adj" fmla="val 4571"/>
                </a:avLst>
              </a:prstGeom>
              <a:solidFill>
                <a:srgbClr val="F8F9FA"/>
              </a:solidFill>
              <a:ln w="9525">
                <a:solidFill>
                  <a:srgbClr val="E0E0E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952500" y="2857500"/>
                <a:ext cx="5090160" cy="809625"/>
                <a:chOff x="952500" y="2857500"/>
                <a:chExt cx="5090160" cy="809625"/>
              </a:xfrm>
            </p:grpSpPr>
            <p:sp>
              <p:nvSpPr>
                <p:cNvPr id="12" name="Rectangle 12"/>
                <p:cNvSpPr/>
                <p:nvPr/>
              </p:nvSpPr>
              <p:spPr>
                <a:xfrm>
                  <a:off x="952500" y="2857500"/>
                  <a:ext cx="762000" cy="762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77B6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247813" y="3055620"/>
                  <a:ext cx="171374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40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1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878330" y="3011805"/>
                  <a:ext cx="2822886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A1A1A"/>
                      </a:solidFill>
                      <a:latin typeface="Arial"/>
                      <a:ea typeface="Microsoft YaHei"/>
                      <a:cs typeface="Arial"/>
                    </a:rPr>
                    <a:t>Dự đoán chẩn đoán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885950" y="3362325"/>
                  <a:ext cx="415671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4A4A4A"/>
                      </a:solidFill>
                      <a:latin typeface="Arial"/>
                      <a:ea typeface="Microsoft YaHei"/>
                      <a:cs typeface="Arial"/>
                    </a:rPr>
                    <a:t>Bình thường hoặc Tràn dịch màng phổi.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952500" y="3810000"/>
                <a:ext cx="6601777" cy="809625"/>
                <a:chOff x="952500" y="3810000"/>
                <a:chExt cx="6601777" cy="809625"/>
              </a:xfrm>
            </p:grpSpPr>
            <p:sp>
              <p:nvSpPr>
                <p:cNvPr id="17" name="Rectangle 17"/>
                <p:cNvSpPr/>
                <p:nvPr/>
              </p:nvSpPr>
              <p:spPr>
                <a:xfrm>
                  <a:off x="952500" y="3810000"/>
                  <a:ext cx="762000" cy="762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D4FF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201807" y="4008120"/>
                  <a:ext cx="263385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40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2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878330" y="3964305"/>
                  <a:ext cx="4239863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A1A1A"/>
                      </a:solidFill>
                      <a:latin typeface="Arial"/>
                      <a:ea typeface="Microsoft YaHei"/>
                      <a:cs typeface="Arial"/>
                    </a:rPr>
                    <a:t>Mức độ tự tin (Confidence)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885950" y="4314825"/>
                  <a:ext cx="5668327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4A4A4A"/>
                      </a:solidFill>
                      <a:latin typeface="Arial"/>
                      <a:ea typeface="Microsoft YaHei"/>
                      <a:cs typeface="Arial"/>
                    </a:rPr>
                    <a:t>Hiển thị tỉ lệ % (VD: 98.4%) AI tin tưởng vào kết quả.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952500" y="4762500"/>
                <a:ext cx="8507730" cy="809625"/>
                <a:chOff x="952500" y="4762500"/>
                <a:chExt cx="8507730" cy="809625"/>
              </a:xfrm>
            </p:grpSpPr>
            <p:sp>
              <p:nvSpPr>
                <p:cNvPr id="22" name="Rectangle 22"/>
                <p:cNvSpPr/>
                <p:nvPr/>
              </p:nvSpPr>
              <p:spPr>
                <a:xfrm>
                  <a:off x="952500" y="4762500"/>
                  <a:ext cx="762000" cy="762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6B6B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201807" y="4960620"/>
                  <a:ext cx="263385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40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878330" y="4916805"/>
                  <a:ext cx="3515273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A1A1A"/>
                      </a:solidFill>
                      <a:latin typeface="Arial"/>
                      <a:ea typeface="Microsoft YaHei"/>
                      <a:cs typeface="Arial"/>
                    </a:rPr>
                    <a:t>Bản đồ nhiệt Grad-CAM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885950" y="5267325"/>
                  <a:ext cx="757428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4A4A4A"/>
                      </a:solidFill>
                      <a:latin typeface="Arial"/>
                      <a:ea typeface="Microsoft YaHei"/>
                      <a:cs typeface="Arial"/>
                    </a:rPr>
                    <a:t>Giúp bác sĩ xác nhận lại quyết định của AI, tăng độ tin cậy khi hội chẩn.</a:t>
                  </a: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71500" y="470535"/>
            <a:ext cx="11049000" cy="548640"/>
            <a:chOff x="571500" y="470535"/>
            <a:chExt cx="11049000" cy="548640"/>
          </a:xfrm>
        </p:grpSpPr>
        <p:sp>
          <p:nvSpPr>
            <p:cNvPr id="3" name="Freeform 3"/>
            <p:cNvSpPr/>
            <p:nvPr/>
          </p:nvSpPr>
          <p:spPr>
            <a:xfrm>
              <a:off x="642938" y="576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3460" y="470535"/>
              <a:ext cx="559617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77B6"/>
                  </a:solidFill>
                  <a:latin typeface="Arial"/>
                  <a:ea typeface="Microsoft YaHei"/>
                  <a:cs typeface="Arial"/>
                </a:rPr>
                <a:t>Tổng kết &amp; Hướng phát triển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1428750"/>
            <a:ext cx="5474637" cy="4286250"/>
            <a:chOff x="571500" y="1428750"/>
            <a:chExt cx="5474637" cy="42862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5238750" cy="4286250"/>
            </a:xfrm>
            <a:prstGeom prst="roundRect">
              <a:avLst>
                <a:gd name="adj" fmla="val 3556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93421" y="1773555"/>
              <a:ext cx="219490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077B6"/>
                  </a:solidFill>
                  <a:latin typeface="Arial"/>
                  <a:ea typeface="Microsoft YaHei"/>
                  <a:cs typeface="Arial"/>
                </a:rPr>
                <a:t>Đã hoàn thành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1545" y="2393632"/>
              <a:ext cx="44639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✔ Huấn luyện thành công DenseNet-121.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1545" y="2822258"/>
              <a:ext cx="51145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✔ Tích hợp Grad-CAM giải thích quyết định.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1545" y="3250882"/>
              <a:ext cx="3994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✔ Xây dựng API Backend (FastAPI).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1545" y="3679508"/>
              <a:ext cx="39819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✔ Xây dựng Giao diện Web (React).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1545" y="4108132"/>
              <a:ext cx="3994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✔ Trích xuất báo cáo PDF tự động.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91250" y="1428750"/>
            <a:ext cx="5238750" cy="4286250"/>
            <a:chOff x="6191250" y="1428750"/>
            <a:chExt cx="5238750" cy="4286250"/>
          </a:xfrm>
        </p:grpSpPr>
        <p:sp>
          <p:nvSpPr>
            <p:cNvPr id="15" name="Rectangle 15"/>
            <p:cNvSpPr/>
            <p:nvPr/>
          </p:nvSpPr>
          <p:spPr>
            <a:xfrm>
              <a:off x="6191250" y="1428750"/>
              <a:ext cx="5238750" cy="4286250"/>
            </a:xfrm>
            <a:prstGeom prst="roundRect">
              <a:avLst>
                <a:gd name="adj" fmla="val 3556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60602" y="1773555"/>
              <a:ext cx="490004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Tương lai (Tính năng tiếp theo)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51295" y="2393632"/>
              <a:ext cx="48013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🚀 Out-of-Distribution (OOD) Detection: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55105" y="2759392"/>
              <a:ext cx="41550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Tự động phát hiện nếu người dùng upload ảnh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55105" y="3045142"/>
              <a:ext cx="37410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KHÔNG phải X-quang (VD: ảnh chó mèo).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1295" y="3489008"/>
              <a:ext cx="483746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🚀 Lưu trữ Lịch sử Khám bệnh (Database):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55105" y="3854768"/>
              <a:ext cx="44705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Lưu trữ ảnh và kết quả vào SQLite để tạo hồ sơ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55105" y="4140518"/>
              <a:ext cx="15229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bệnh án lâu dài.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51295" y="4584382"/>
              <a:ext cx="39337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🚀 Hỗ trợ Đa bệnh lý (Multi-label):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55105" y="4950142"/>
              <a:ext cx="44212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Mở rộng mô hình để chẩn đoán thêm Viêm phổi,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55105" y="5235892"/>
              <a:ext cx="18482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4A4A"/>
                  </a:solidFill>
                  <a:latin typeface="Arial"/>
                  <a:ea typeface="Microsoft YaHei"/>
                  <a:cs typeface="Arial"/>
                </a:rPr>
                <a:t>Lao phổi, Khối u...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4" grpId="0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4085</Words>
  <Application>Microsoft Office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1871020089 Lê Trọng Chiến</cp:lastModifiedBy>
  <cp:revision>2</cp:revision>
  <dcterms:created xsi:type="dcterms:W3CDTF">2013-01-27T09:14:16Z</dcterms:created>
  <dcterms:modified xsi:type="dcterms:W3CDTF">2026-05-29T08:17:25Z</dcterms:modified>
  <cp:category/>
</cp:coreProperties>
</file>